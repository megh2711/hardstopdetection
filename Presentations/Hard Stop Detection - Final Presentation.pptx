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Helvetica Neue"/>
      <p:regular r:id="rId18"/>
      <p:bold r:id="rId19"/>
      <p:italic r:id="rId20"/>
      <p:boldItalic r:id="rId21"/>
    </p:embeddedFont>
    <p:embeddedFont>
      <p:font typeface="Helvetica Neue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ibDgYeTH0Gj8IjZ8MG/dd5nOwH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4A9318-9C17-4AE5-BF23-79177D7608C1}">
  <a:tblStyle styleId="{1E4A9318-9C17-4AE5-BF23-79177D7608C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731A88E-783C-416E-8A90-A1F5DFD8DEE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HelveticaNeueLight-regular.fntdata"/><Relationship Id="rId21" Type="http://schemas.openxmlformats.org/officeDocument/2006/relationships/font" Target="fonts/HelveticaNeue-boldItalic.fntdata"/><Relationship Id="rId24" Type="http://schemas.openxmlformats.org/officeDocument/2006/relationships/font" Target="fonts/HelveticaNeueLight-italic.fntdata"/><Relationship Id="rId23" Type="http://schemas.openxmlformats.org/officeDocument/2006/relationships/font" Target="fonts/HelveticaNeueLigh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HelveticaNeue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5ffc18839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d5ffc18839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e76a4f719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de76a4f719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e76a4f719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de76a4f719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e76a4f719_1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de76a4f719_1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e76a4f719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de76a4f719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e76a4f719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de76a4f719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6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4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4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47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8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8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4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48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4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49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5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50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5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51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5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52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5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5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53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5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54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5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55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5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56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45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5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5"/>
            <p:cNvPicPr preferRelativeResize="0"/>
            <p:nvPr/>
          </p:nvPicPr>
          <p:blipFill rotWithShape="1">
            <a:blip r:embed="rId2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5"/>
            <p:cNvPicPr preferRelativeResize="0"/>
            <p:nvPr/>
          </p:nvPicPr>
          <p:blipFill rotWithShape="1">
            <a:blip r:embed="rId3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4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0" y="3003010"/>
            <a:ext cx="121920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</a:pPr>
            <a:r>
              <a:rPr lang="en-US" sz="3000"/>
              <a:t>Identify Hard Stop and Momentary Stop</a:t>
            </a:r>
            <a:endParaRPr sz="3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</a:pPr>
            <a:r>
              <a:rPr lang="en-US" sz="3000"/>
              <a:t>Using Vehicle Trajectory Dataset</a:t>
            </a:r>
            <a:endParaRPr sz="3000"/>
          </a:p>
        </p:txBody>
      </p:sp>
      <p:sp>
        <p:nvSpPr>
          <p:cNvPr id="89" name="Google Shape;89;p1"/>
          <p:cNvSpPr txBox="1"/>
          <p:nvPr>
            <p:ph type="title"/>
          </p:nvPr>
        </p:nvSpPr>
        <p:spPr>
          <a:xfrm>
            <a:off x="75" y="4112623"/>
            <a:ext cx="12192000" cy="6681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</a:pPr>
            <a:r>
              <a:rPr lang="en-US" sz="2000"/>
              <a:t>CSE623: Machine Learning</a:t>
            </a:r>
            <a:endParaRPr sz="2000"/>
          </a:p>
        </p:txBody>
      </p:sp>
      <p:sp>
        <p:nvSpPr>
          <p:cNvPr id="90" name="Google Shape;90;p1"/>
          <p:cNvSpPr txBox="1"/>
          <p:nvPr>
            <p:ph type="title"/>
          </p:nvPr>
        </p:nvSpPr>
        <p:spPr>
          <a:xfrm>
            <a:off x="0" y="6416100"/>
            <a:ext cx="12192000" cy="6681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</a:pPr>
            <a:r>
              <a:rPr b="0" lang="en-US" sz="2000"/>
              <a:t>School of Engineering and Applied Science, Ahmedabad University</a:t>
            </a:r>
            <a:endParaRPr b="0" sz="2000"/>
          </a:p>
        </p:txBody>
      </p:sp>
      <p:graphicFrame>
        <p:nvGraphicFramePr>
          <p:cNvPr id="91" name="Google Shape;91;p1"/>
          <p:cNvGraphicFramePr/>
          <p:nvPr/>
        </p:nvGraphicFramePr>
        <p:xfrm>
          <a:off x="1629050" y="4632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{1E4A9318-9C17-4AE5-BF23-79177D7608C1}</a:tableStyleId>
              </a:tblPr>
              <a:tblGrid>
                <a:gridCol w="2233475"/>
                <a:gridCol w="2233475"/>
                <a:gridCol w="2233475"/>
                <a:gridCol w="2233475"/>
              </a:tblGrid>
              <a:tr h="381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4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Team: TechTitans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Megh Patel</a:t>
                      </a:r>
                      <a:endParaRPr sz="17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Devanshi Pathak</a:t>
                      </a:r>
                      <a:endParaRPr sz="17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Dharmi Vekariya</a:t>
                      </a:r>
                      <a:endParaRPr sz="17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Konark Karia</a:t>
                      </a:r>
                      <a:endParaRPr sz="17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AU2544020</a:t>
                      </a:r>
                      <a:endParaRPr sz="17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AU2544014</a:t>
                      </a:r>
                      <a:endParaRPr sz="17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AU2544029</a:t>
                      </a:r>
                      <a:endParaRPr sz="17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AU2544011</a:t>
                      </a:r>
                      <a:endParaRPr sz="17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1850" y="439400"/>
            <a:ext cx="10515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97" name="Google Shape;97;p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14-03-2026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685325" y="2492725"/>
            <a:ext cx="5211900" cy="3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29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0"/>
              <a:buChar char="●"/>
            </a:pPr>
            <a:r>
              <a:rPr lang="en-US" sz="2300">
                <a:solidFill>
                  <a:srgbClr val="1A0505"/>
                </a:solidFill>
                <a:latin typeface="Calibri"/>
                <a:ea typeface="Calibri"/>
                <a:cs typeface="Calibri"/>
                <a:sym typeface="Calibri"/>
              </a:rPr>
              <a:t>Traffic intersections present complex vehicle behaviors — especially hard stops, where vehicles abruptly halt or remain stationary for extended durations.</a:t>
            </a:r>
            <a:endParaRPr sz="2300">
              <a:solidFill>
                <a:srgbClr val="1A050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29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0"/>
              <a:buChar char="●"/>
            </a:pPr>
            <a:r>
              <a:rPr lang="en-US" sz="2300">
                <a:solidFill>
                  <a:srgbClr val="1A0505"/>
                </a:solidFill>
                <a:latin typeface="Calibri"/>
                <a:ea typeface="Calibri"/>
                <a:cs typeface="Calibri"/>
                <a:sym typeface="Calibri"/>
              </a:rPr>
              <a:t>These events can indicate emergencies, illegal parking, or traffic anomalies.</a:t>
            </a:r>
            <a:endParaRPr sz="32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6249600" y="1476225"/>
            <a:ext cx="0" cy="4581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2"/>
          <p:cNvSpPr txBox="1"/>
          <p:nvPr/>
        </p:nvSpPr>
        <p:spPr>
          <a:xfrm>
            <a:off x="6601975" y="2492725"/>
            <a:ext cx="5211900" cy="25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-US" sz="2300">
                <a:solidFill>
                  <a:srgbClr val="1A0505"/>
                </a:solidFill>
                <a:latin typeface="Calibri"/>
                <a:ea typeface="Calibri"/>
                <a:cs typeface="Calibri"/>
                <a:sym typeface="Calibri"/>
              </a:rPr>
              <a:t>Build a binary classifier to detect Hard Stops vs. Normal Motion using UAV-captured vehicle trajectory data.</a:t>
            </a:r>
            <a:endParaRPr sz="2300">
              <a:solidFill>
                <a:srgbClr val="1A050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-US" sz="2300">
                <a:solidFill>
                  <a:srgbClr val="1A0505"/>
                </a:solidFill>
                <a:latin typeface="Calibri"/>
                <a:ea typeface="Calibri"/>
                <a:cs typeface="Calibri"/>
                <a:sym typeface="Calibri"/>
              </a:rPr>
              <a:t>Simplify from multi-class to binary classification for better precision and practicality.</a:t>
            </a:r>
            <a:endParaRPr sz="2300">
              <a:solidFill>
                <a:srgbClr val="1A05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44925" y="1476225"/>
            <a:ext cx="4892700" cy="6369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Challenge</a:t>
            </a:r>
            <a:endParaRPr b="1" sz="2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761575" y="1476225"/>
            <a:ext cx="4892700" cy="6369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Objective</a:t>
            </a:r>
            <a:endParaRPr b="1" sz="2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5ffc18839_1_0"/>
          <p:cNvSpPr txBox="1"/>
          <p:nvPr>
            <p:ph type="title"/>
          </p:nvPr>
        </p:nvSpPr>
        <p:spPr>
          <a:xfrm>
            <a:off x="831850" y="439400"/>
            <a:ext cx="10515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09" name="Google Shape;109;g3d5ffc18839_1_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g3d5ffc18839_1_0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14-03-2026</a:t>
            </a:r>
            <a:endParaRPr/>
          </a:p>
        </p:txBody>
      </p:sp>
      <p:sp>
        <p:nvSpPr>
          <p:cNvPr id="111" name="Google Shape;111;g3d5ffc18839_1_0"/>
          <p:cNvSpPr/>
          <p:nvPr/>
        </p:nvSpPr>
        <p:spPr>
          <a:xfrm>
            <a:off x="739950" y="2385710"/>
            <a:ext cx="10613700" cy="3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dk1"/>
                </a:solidFill>
              </a:rPr>
              <a:t>Combines </a:t>
            </a:r>
            <a:r>
              <a:rPr b="1" lang="en-US" sz="2000">
                <a:solidFill>
                  <a:schemeClr val="dk1"/>
                </a:solidFill>
              </a:rPr>
              <a:t>Dijkstra algorithm</a:t>
            </a:r>
            <a:r>
              <a:rPr lang="en-US" sz="2000">
                <a:solidFill>
                  <a:schemeClr val="dk1"/>
                </a:solidFill>
              </a:rPr>
              <a:t> with </a:t>
            </a:r>
            <a:r>
              <a:rPr b="1" lang="en-US" sz="2000">
                <a:solidFill>
                  <a:schemeClr val="dk1"/>
                </a:solidFill>
              </a:rPr>
              <a:t>machine learning models</a:t>
            </a:r>
            <a:r>
              <a:rPr lang="en-US" sz="2000">
                <a:solidFill>
                  <a:schemeClr val="dk1"/>
                </a:solidFill>
              </a:rPr>
              <a:t> (Random Forest, XGBoost, GA-RF)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dk1"/>
                </a:solidFill>
              </a:rPr>
              <a:t>Aims to improve traffic management at </a:t>
            </a:r>
            <a:r>
              <a:rPr b="1" lang="en-US" sz="2000">
                <a:solidFill>
                  <a:schemeClr val="dk1"/>
                </a:solidFill>
              </a:rPr>
              <a:t>urban intersections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dk1"/>
                </a:solidFill>
              </a:rPr>
              <a:t>Performs </a:t>
            </a:r>
            <a:r>
              <a:rPr b="1" lang="en-US" sz="2000">
                <a:solidFill>
                  <a:schemeClr val="dk1"/>
                </a:solidFill>
              </a:rPr>
              <a:t>vehicle classification</a:t>
            </a:r>
            <a:r>
              <a:rPr lang="en-US" sz="2000">
                <a:solidFill>
                  <a:schemeClr val="dk1"/>
                </a:solidFill>
              </a:rPr>
              <a:t> and </a:t>
            </a:r>
            <a:r>
              <a:rPr b="1" lang="en-US" sz="2000">
                <a:solidFill>
                  <a:schemeClr val="dk1"/>
                </a:solidFill>
              </a:rPr>
              <a:t>trajectory prediction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dk1"/>
                </a:solidFill>
              </a:rPr>
              <a:t>Uses </a:t>
            </a:r>
            <a:r>
              <a:rPr b="1" lang="en-US" sz="2000">
                <a:solidFill>
                  <a:schemeClr val="dk1"/>
                </a:solidFill>
              </a:rPr>
              <a:t>simulated traffic data</a:t>
            </a:r>
            <a:r>
              <a:rPr lang="en-US" sz="2000">
                <a:solidFill>
                  <a:schemeClr val="dk1"/>
                </a:solidFill>
              </a:rPr>
              <a:t> for evaluation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Char char="●"/>
            </a:pPr>
            <a:r>
              <a:rPr b="1" lang="en-US" sz="2000">
                <a:solidFill>
                  <a:schemeClr val="dk1"/>
                </a:solidFill>
              </a:rPr>
              <a:t>GA-RF model</a:t>
            </a:r>
            <a:r>
              <a:rPr lang="en-US" sz="2000">
                <a:solidFill>
                  <a:schemeClr val="dk1"/>
                </a:solidFill>
              </a:rPr>
              <a:t> shows highest accuracy and reliability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Char char="●"/>
            </a:pPr>
            <a:r>
              <a:rPr lang="en-US" sz="2000">
                <a:solidFill>
                  <a:schemeClr val="dk1"/>
                </a:solidFill>
              </a:rPr>
              <a:t>Better handles </a:t>
            </a:r>
            <a:r>
              <a:rPr b="1" lang="en-US" sz="2000">
                <a:solidFill>
                  <a:schemeClr val="dk1"/>
                </a:solidFill>
              </a:rPr>
              <a:t>complex and dynamic traffic conditions</a:t>
            </a:r>
            <a:r>
              <a:rPr lang="en-US" sz="2000">
                <a:solidFill>
                  <a:schemeClr val="dk1"/>
                </a:solidFill>
              </a:rPr>
              <a:t> than traditional models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12" name="Google Shape;112;g3d5ffc18839_1_0"/>
          <p:cNvSpPr/>
          <p:nvPr/>
        </p:nvSpPr>
        <p:spPr>
          <a:xfrm>
            <a:off x="831850" y="1344775"/>
            <a:ext cx="10515600" cy="10632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“An optimized hybrid approach for trajectory prediction and vehicle classification at intersections using Dijkstra and Random Forest enhanced by a Genetic Algorithm”</a:t>
            </a:r>
            <a:endParaRPr b="1" i="1" sz="2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e76a4f719_1_3"/>
          <p:cNvSpPr txBox="1"/>
          <p:nvPr>
            <p:ph type="title"/>
          </p:nvPr>
        </p:nvSpPr>
        <p:spPr>
          <a:xfrm>
            <a:off x="831850" y="439400"/>
            <a:ext cx="10515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43426"/>
              </a:buClr>
              <a:buSzPts val="3960"/>
              <a:buFont typeface="Montserrat"/>
              <a:buNone/>
            </a:pPr>
            <a:r>
              <a:rPr lang="en-US" sz="3360">
                <a:latin typeface="Montserrat"/>
                <a:ea typeface="Montserrat"/>
                <a:cs typeface="Montserrat"/>
                <a:sym typeface="Montserrat"/>
              </a:rPr>
              <a:t>Methodology | Dataset &amp; Feature Engineering</a:t>
            </a:r>
            <a:endParaRPr sz="4260"/>
          </a:p>
        </p:txBody>
      </p:sp>
      <p:sp>
        <p:nvSpPr>
          <p:cNvPr id="118" name="Google Shape;118;g3de76a4f719_1_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g3de76a4f719_1_3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14-03-2026</a:t>
            </a:r>
            <a:endParaRPr/>
          </a:p>
        </p:txBody>
      </p:sp>
      <p:cxnSp>
        <p:nvCxnSpPr>
          <p:cNvPr id="120" name="Google Shape;120;g3de76a4f719_1_3"/>
          <p:cNvCxnSpPr/>
          <p:nvPr/>
        </p:nvCxnSpPr>
        <p:spPr>
          <a:xfrm>
            <a:off x="6249600" y="1476225"/>
            <a:ext cx="0" cy="4581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g3de76a4f719_1_3"/>
          <p:cNvSpPr/>
          <p:nvPr/>
        </p:nvSpPr>
        <p:spPr>
          <a:xfrm>
            <a:off x="844925" y="1476225"/>
            <a:ext cx="4892700" cy="6369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Dataset Features</a:t>
            </a:r>
            <a:endParaRPr b="1" sz="2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22" name="Google Shape;122;g3de76a4f719_1_3"/>
          <p:cNvGraphicFramePr/>
          <p:nvPr/>
        </p:nvGraphicFramePr>
        <p:xfrm>
          <a:off x="898700" y="230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{C731A88E-783C-416E-8A90-A1F5DFD8DEE3}</a:tableStyleId>
              </a:tblPr>
              <a:tblGrid>
                <a:gridCol w="2392575"/>
                <a:gridCol w="2392575"/>
              </a:tblGrid>
              <a:tr h="57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xc, yc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05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Spatial coordinates (X &amp; Y)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w, h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05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Bounding box dimensions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 vel / Smoothed vel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05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Original &amp; smoothed velocity (kmph)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SD(m)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05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 deviation of motion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FlightHeight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05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UAV altitude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7D19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Acceleration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A05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Engineered: velocity delta over time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g3de76a4f719_1_3"/>
          <p:cNvSpPr/>
          <p:nvPr/>
        </p:nvSpPr>
        <p:spPr>
          <a:xfrm>
            <a:off x="6676175" y="1476225"/>
            <a:ext cx="4892700" cy="6369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 Pipeline</a:t>
            </a:r>
            <a:endParaRPr b="1" sz="2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g3de76a4f719_1_3"/>
          <p:cNvSpPr/>
          <p:nvPr/>
        </p:nvSpPr>
        <p:spPr>
          <a:xfrm>
            <a:off x="6676175" y="2369788"/>
            <a:ext cx="551100" cy="4683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g3de76a4f719_1_3"/>
          <p:cNvSpPr txBox="1"/>
          <p:nvPr/>
        </p:nvSpPr>
        <p:spPr>
          <a:xfrm>
            <a:off x="7392075" y="2369800"/>
            <a:ext cx="41268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0505"/>
                </a:solidFill>
                <a:latin typeface="Calibri"/>
                <a:ea typeface="Calibri"/>
                <a:cs typeface="Calibri"/>
                <a:sym typeface="Calibri"/>
              </a:rPr>
              <a:t>Load &amp; merge multi-file UAV CSV trajectory data</a:t>
            </a:r>
            <a:endParaRPr sz="1500">
              <a:solidFill>
                <a:srgbClr val="1A05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de76a4f719_1_3"/>
          <p:cNvSpPr/>
          <p:nvPr/>
        </p:nvSpPr>
        <p:spPr>
          <a:xfrm>
            <a:off x="6676175" y="3028950"/>
            <a:ext cx="551100" cy="4683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g3de76a4f719_1_3"/>
          <p:cNvSpPr txBox="1"/>
          <p:nvPr/>
        </p:nvSpPr>
        <p:spPr>
          <a:xfrm>
            <a:off x="7392075" y="3028950"/>
            <a:ext cx="41268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0505"/>
                </a:solidFill>
                <a:latin typeface="Calibri"/>
                <a:ea typeface="Calibri"/>
                <a:cs typeface="Calibri"/>
                <a:sym typeface="Calibri"/>
              </a:rPr>
              <a:t>Drop rows with null values (Org dir, Smoothed dir)</a:t>
            </a:r>
            <a:endParaRPr sz="1500">
              <a:solidFill>
                <a:srgbClr val="1A05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de76a4f719_1_3"/>
          <p:cNvSpPr/>
          <p:nvPr/>
        </p:nvSpPr>
        <p:spPr>
          <a:xfrm>
            <a:off x="6676175" y="3688088"/>
            <a:ext cx="551100" cy="4683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g3de76a4f719_1_3"/>
          <p:cNvSpPr txBox="1"/>
          <p:nvPr/>
        </p:nvSpPr>
        <p:spPr>
          <a:xfrm>
            <a:off x="7392075" y="3688100"/>
            <a:ext cx="41268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0505"/>
                </a:solidFill>
                <a:latin typeface="Calibri"/>
                <a:ea typeface="Calibri"/>
                <a:cs typeface="Calibri"/>
                <a:sym typeface="Calibri"/>
              </a:rPr>
              <a:t>Engineer acceleration from velocity differences</a:t>
            </a:r>
            <a:endParaRPr sz="1500">
              <a:solidFill>
                <a:srgbClr val="1A05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de76a4f719_1_3"/>
          <p:cNvSpPr/>
          <p:nvPr/>
        </p:nvSpPr>
        <p:spPr>
          <a:xfrm>
            <a:off x="6676175" y="4347250"/>
            <a:ext cx="551100" cy="4683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g3de76a4f719_1_3"/>
          <p:cNvSpPr txBox="1"/>
          <p:nvPr/>
        </p:nvSpPr>
        <p:spPr>
          <a:xfrm>
            <a:off x="7392075" y="4347250"/>
            <a:ext cx="41268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0505"/>
                </a:solidFill>
                <a:latin typeface="Calibri"/>
                <a:ea typeface="Calibri"/>
                <a:cs typeface="Calibri"/>
                <a:sym typeface="Calibri"/>
              </a:rPr>
              <a:t>MinMax scale all numeric features → [0, 1]</a:t>
            </a:r>
            <a:endParaRPr sz="1500">
              <a:solidFill>
                <a:srgbClr val="1A05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de76a4f719_1_3"/>
          <p:cNvSpPr/>
          <p:nvPr/>
        </p:nvSpPr>
        <p:spPr>
          <a:xfrm>
            <a:off x="6676175" y="5006400"/>
            <a:ext cx="551100" cy="4683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g3de76a4f719_1_3"/>
          <p:cNvSpPr txBox="1"/>
          <p:nvPr/>
        </p:nvSpPr>
        <p:spPr>
          <a:xfrm>
            <a:off x="7392075" y="5006400"/>
            <a:ext cx="41268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0505"/>
                </a:solidFill>
                <a:latin typeface="Calibri"/>
                <a:ea typeface="Calibri"/>
                <a:cs typeface="Calibri"/>
                <a:sym typeface="Calibri"/>
              </a:rPr>
              <a:t>Binary label: velocity &lt; 90 kmph → Hard Stop (1)</a:t>
            </a:r>
            <a:endParaRPr sz="1500">
              <a:solidFill>
                <a:srgbClr val="1A05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de76a4f719_1_3"/>
          <p:cNvSpPr/>
          <p:nvPr/>
        </p:nvSpPr>
        <p:spPr>
          <a:xfrm>
            <a:off x="6676175" y="5665550"/>
            <a:ext cx="551100" cy="4683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g3de76a4f719_1_3"/>
          <p:cNvSpPr txBox="1"/>
          <p:nvPr/>
        </p:nvSpPr>
        <p:spPr>
          <a:xfrm>
            <a:off x="7392075" y="5665650"/>
            <a:ext cx="42141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0505"/>
                </a:solidFill>
                <a:latin typeface="Calibri"/>
                <a:ea typeface="Calibri"/>
                <a:cs typeface="Calibri"/>
                <a:sym typeface="Calibri"/>
              </a:rPr>
              <a:t>80/20 Train-Test split with stratification</a:t>
            </a:r>
            <a:endParaRPr sz="1500">
              <a:solidFill>
                <a:srgbClr val="1A05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e76a4f719_1_16"/>
          <p:cNvSpPr txBox="1"/>
          <p:nvPr>
            <p:ph type="title"/>
          </p:nvPr>
        </p:nvSpPr>
        <p:spPr>
          <a:xfrm>
            <a:off x="831850" y="439400"/>
            <a:ext cx="10515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43426"/>
              </a:buClr>
              <a:buSzPts val="3960"/>
              <a:buFont typeface="Montserrat"/>
              <a:buNone/>
            </a:pPr>
            <a:r>
              <a:rPr lang="en-US" sz="3360">
                <a:latin typeface="Montserrat"/>
                <a:ea typeface="Montserrat"/>
                <a:cs typeface="Montserrat"/>
                <a:sym typeface="Montserrat"/>
              </a:rPr>
              <a:t>Methodology | Model &amp; Classification</a:t>
            </a:r>
            <a:endParaRPr sz="4260"/>
          </a:p>
        </p:txBody>
      </p:sp>
      <p:sp>
        <p:nvSpPr>
          <p:cNvPr id="141" name="Google Shape;141;g3de76a4f719_1_1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g3de76a4f719_1_16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14-03-2026</a:t>
            </a:r>
            <a:endParaRPr/>
          </a:p>
        </p:txBody>
      </p:sp>
      <p:sp>
        <p:nvSpPr>
          <p:cNvPr id="143" name="Google Shape;143;g3de76a4f719_1_16"/>
          <p:cNvSpPr/>
          <p:nvPr/>
        </p:nvSpPr>
        <p:spPr>
          <a:xfrm>
            <a:off x="844925" y="1378602"/>
            <a:ext cx="4892700" cy="63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Random Forest?</a:t>
            </a:r>
            <a:endParaRPr b="1" sz="2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g3de76a4f719_1_16"/>
          <p:cNvSpPr/>
          <p:nvPr/>
        </p:nvSpPr>
        <p:spPr>
          <a:xfrm>
            <a:off x="831850" y="2184622"/>
            <a:ext cx="3214500" cy="14940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E8C568"/>
                </a:solidFill>
                <a:latin typeface="Calibri"/>
                <a:ea typeface="Calibri"/>
                <a:cs typeface="Calibri"/>
                <a:sym typeface="Calibri"/>
              </a:rPr>
              <a:t>Structured Data</a:t>
            </a:r>
            <a:endParaRPr b="1" sz="1800">
              <a:solidFill>
                <a:srgbClr val="E8C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0E0E0"/>
                </a:solidFill>
                <a:latin typeface="Calibri"/>
                <a:ea typeface="Calibri"/>
                <a:cs typeface="Calibri"/>
                <a:sym typeface="Calibri"/>
              </a:rPr>
              <a:t>Tree-based models excel on tabular/structured data</a:t>
            </a:r>
            <a:endParaRPr b="1" sz="2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g3de76a4f719_1_16"/>
          <p:cNvSpPr/>
          <p:nvPr/>
        </p:nvSpPr>
        <p:spPr>
          <a:xfrm>
            <a:off x="4482400" y="2184622"/>
            <a:ext cx="3214500" cy="14940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E8C568"/>
                </a:solidFill>
                <a:latin typeface="Calibri"/>
                <a:ea typeface="Calibri"/>
                <a:cs typeface="Calibri"/>
                <a:sym typeface="Calibri"/>
              </a:rPr>
              <a:t>Non-linear</a:t>
            </a:r>
            <a:endParaRPr b="1" sz="1800">
              <a:solidFill>
                <a:srgbClr val="E8C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0E0E0"/>
                </a:solidFill>
                <a:latin typeface="Calibri"/>
                <a:ea typeface="Calibri"/>
                <a:cs typeface="Calibri"/>
                <a:sym typeface="Calibri"/>
              </a:rPr>
              <a:t>Captures non-linear feature relationships without tuning</a:t>
            </a:r>
            <a:endParaRPr b="1" sz="2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g3de76a4f719_1_16"/>
          <p:cNvSpPr/>
          <p:nvPr/>
        </p:nvSpPr>
        <p:spPr>
          <a:xfrm>
            <a:off x="8132950" y="2184622"/>
            <a:ext cx="3214500" cy="14940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E8C568"/>
                </a:solidFill>
                <a:latin typeface="Calibri"/>
                <a:ea typeface="Calibri"/>
                <a:cs typeface="Calibri"/>
                <a:sym typeface="Calibri"/>
              </a:rPr>
              <a:t>Anti-Overfitting</a:t>
            </a:r>
            <a:endParaRPr b="1" sz="1800">
              <a:solidFill>
                <a:srgbClr val="E8C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0E0E0"/>
                </a:solidFill>
                <a:latin typeface="Calibri"/>
                <a:ea typeface="Calibri"/>
                <a:cs typeface="Calibri"/>
                <a:sym typeface="Calibri"/>
              </a:rPr>
              <a:t>Ensemble of trees reduces variance and overfitting</a:t>
            </a:r>
            <a:endParaRPr b="1" sz="16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g3de76a4f719_1_16"/>
          <p:cNvSpPr/>
          <p:nvPr/>
        </p:nvSpPr>
        <p:spPr>
          <a:xfrm>
            <a:off x="844925" y="3994175"/>
            <a:ext cx="4892700" cy="6369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 Generation (Threshold = 90 kmph)</a:t>
            </a:r>
            <a:endParaRPr b="1" sz="2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g3de76a4f719_1_16"/>
          <p:cNvSpPr txBox="1"/>
          <p:nvPr/>
        </p:nvSpPr>
        <p:spPr>
          <a:xfrm>
            <a:off x="831850" y="4824600"/>
            <a:ext cx="48927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Class 0 (Normal Motion)</a:t>
            </a:r>
            <a:endParaRPr b="1" sz="1500">
              <a:solidFill>
                <a:srgbClr val="7D19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0505"/>
                </a:solidFill>
                <a:latin typeface="Calibri"/>
                <a:ea typeface="Calibri"/>
                <a:cs typeface="Calibri"/>
                <a:sym typeface="Calibri"/>
              </a:rPr>
              <a:t>  Velocity ≥ 90 kmph → vehicle in normal motion</a:t>
            </a:r>
            <a:br>
              <a:rPr lang="en-US" sz="1500">
                <a:solidFill>
                  <a:srgbClr val="1A050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rgbClr val="1A050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500">
                <a:solidFill>
                  <a:srgbClr val="7D1916"/>
                </a:solidFill>
                <a:latin typeface="Calibri"/>
                <a:ea typeface="Calibri"/>
                <a:cs typeface="Calibri"/>
                <a:sym typeface="Calibri"/>
              </a:rPr>
              <a:t>Class 1 (Hard Stop)</a:t>
            </a:r>
            <a:endParaRPr b="1" sz="1500">
              <a:solidFill>
                <a:srgbClr val="7D191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0505"/>
                </a:solidFill>
                <a:latin typeface="Calibri"/>
                <a:ea typeface="Calibri"/>
                <a:cs typeface="Calibri"/>
                <a:sym typeface="Calibri"/>
              </a:rPr>
              <a:t>  Velocity &lt; 90 kmph → stationary or abrupt halt</a:t>
            </a:r>
            <a:endParaRPr sz="1500">
              <a:solidFill>
                <a:srgbClr val="1A050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de76a4f719_1_16"/>
          <p:cNvSpPr/>
          <p:nvPr/>
        </p:nvSpPr>
        <p:spPr>
          <a:xfrm>
            <a:off x="6109075" y="4021450"/>
            <a:ext cx="4892700" cy="6369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Distribution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g3de76a4f719_1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9074" y="4810750"/>
            <a:ext cx="4892700" cy="132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e76a4f719_1_48"/>
          <p:cNvSpPr/>
          <p:nvPr/>
        </p:nvSpPr>
        <p:spPr>
          <a:xfrm>
            <a:off x="7588175" y="3290888"/>
            <a:ext cx="3765600" cy="2681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1" sz="22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Random Forest outperformed with 98.74% accuracy on structured tabular data. Minimal falase alarms (Precision=1.00) prevents erroneous emergency triggers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de76a4f719_1_48"/>
          <p:cNvSpPr/>
          <p:nvPr/>
        </p:nvSpPr>
        <p:spPr>
          <a:xfrm>
            <a:off x="8830516" y="1464652"/>
            <a:ext cx="2495400" cy="14940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E8C568"/>
                </a:solidFill>
                <a:latin typeface="Calibri"/>
                <a:ea typeface="Calibri"/>
                <a:cs typeface="Calibri"/>
                <a:sym typeface="Calibri"/>
              </a:rPr>
              <a:t>0.90</a:t>
            </a:r>
            <a:endParaRPr b="1" sz="4400">
              <a:solidFill>
                <a:srgbClr val="E8C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0E0E0"/>
                </a:solidFill>
                <a:latin typeface="Calibri"/>
                <a:ea typeface="Calibri"/>
                <a:cs typeface="Calibri"/>
                <a:sym typeface="Calibri"/>
              </a:rPr>
              <a:t>F1-Score (Hard Stop)</a:t>
            </a:r>
            <a:endParaRPr sz="1600">
              <a:solidFill>
                <a:srgbClr val="F0E0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de76a4f719_1_48"/>
          <p:cNvSpPr txBox="1"/>
          <p:nvPr>
            <p:ph type="title"/>
          </p:nvPr>
        </p:nvSpPr>
        <p:spPr>
          <a:xfrm>
            <a:off x="831850" y="439400"/>
            <a:ext cx="10515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43426"/>
              </a:buClr>
              <a:buSzPts val="3960"/>
              <a:buFont typeface="Montserrat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Results &amp; Evaluation</a:t>
            </a:r>
            <a:endParaRPr/>
          </a:p>
        </p:txBody>
      </p:sp>
      <p:sp>
        <p:nvSpPr>
          <p:cNvPr id="158" name="Google Shape;158;g3de76a4f719_1_4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g3de76a4f719_1_48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14-03-2026</a:t>
            </a:r>
            <a:endParaRPr/>
          </a:p>
        </p:txBody>
      </p:sp>
      <p:sp>
        <p:nvSpPr>
          <p:cNvPr id="160" name="Google Shape;160;g3de76a4f719_1_48"/>
          <p:cNvSpPr/>
          <p:nvPr/>
        </p:nvSpPr>
        <p:spPr>
          <a:xfrm>
            <a:off x="831850" y="1428048"/>
            <a:ext cx="2495400" cy="14940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E8C568"/>
                </a:solidFill>
                <a:latin typeface="Calibri"/>
                <a:ea typeface="Calibri"/>
                <a:cs typeface="Calibri"/>
                <a:sym typeface="Calibri"/>
              </a:rPr>
              <a:t>98.74%</a:t>
            </a:r>
            <a:endParaRPr b="1" sz="4400">
              <a:solidFill>
                <a:srgbClr val="E8C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0E0E0"/>
                </a:solidFill>
                <a:latin typeface="Calibri"/>
                <a:ea typeface="Calibri"/>
                <a:cs typeface="Calibri"/>
                <a:sym typeface="Calibri"/>
              </a:rPr>
              <a:t>Overall Accuracy</a:t>
            </a:r>
            <a:endParaRPr sz="2300">
              <a:solidFill>
                <a:srgbClr val="F0E0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de76a4f719_1_48"/>
          <p:cNvSpPr/>
          <p:nvPr/>
        </p:nvSpPr>
        <p:spPr>
          <a:xfrm>
            <a:off x="844925" y="3200659"/>
            <a:ext cx="48927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Classification Report</a:t>
            </a:r>
            <a:endParaRPr b="1" sz="2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g3de76a4f719_1_48"/>
          <p:cNvSpPr/>
          <p:nvPr/>
        </p:nvSpPr>
        <p:spPr>
          <a:xfrm>
            <a:off x="3498075" y="1452446"/>
            <a:ext cx="2495400" cy="14940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E8C568"/>
                </a:solidFill>
                <a:latin typeface="Calibri"/>
                <a:ea typeface="Calibri"/>
                <a:cs typeface="Calibri"/>
                <a:sym typeface="Calibri"/>
              </a:rPr>
              <a:t>0.99</a:t>
            </a:r>
            <a:endParaRPr b="1" sz="4400">
              <a:solidFill>
                <a:srgbClr val="E8C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0E0E0"/>
                </a:solidFill>
                <a:latin typeface="Calibri"/>
                <a:ea typeface="Calibri"/>
                <a:cs typeface="Calibri"/>
                <a:sym typeface="Calibri"/>
              </a:rPr>
              <a:t>Precision (Hard Stop</a:t>
            </a:r>
            <a:r>
              <a:rPr lang="en-US" sz="1100">
                <a:solidFill>
                  <a:srgbClr val="F0E0E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F0E0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de76a4f719_1_48"/>
          <p:cNvSpPr/>
          <p:nvPr/>
        </p:nvSpPr>
        <p:spPr>
          <a:xfrm>
            <a:off x="6164291" y="1440254"/>
            <a:ext cx="2495400" cy="14940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E8C568"/>
                </a:solidFill>
                <a:latin typeface="Calibri"/>
                <a:ea typeface="Calibri"/>
                <a:cs typeface="Calibri"/>
                <a:sym typeface="Calibri"/>
              </a:rPr>
              <a:t>0.82</a:t>
            </a:r>
            <a:endParaRPr b="1" sz="4400">
              <a:solidFill>
                <a:srgbClr val="E8C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0E0E0"/>
                </a:solidFill>
                <a:latin typeface="Calibri"/>
                <a:ea typeface="Calibri"/>
                <a:cs typeface="Calibri"/>
                <a:sym typeface="Calibri"/>
              </a:rPr>
              <a:t>Recall (Hard Stop)</a:t>
            </a:r>
            <a:endParaRPr sz="1600">
              <a:solidFill>
                <a:srgbClr val="F0E0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g3de76a4f719_1_48"/>
          <p:cNvGraphicFramePr/>
          <p:nvPr/>
        </p:nvGraphicFramePr>
        <p:xfrm>
          <a:off x="844900" y="38018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{C731A88E-783C-416E-8A90-A1F5DFD8DEE3}</a:tableStyleId>
              </a:tblPr>
              <a:tblGrid>
                <a:gridCol w="1696075"/>
                <a:gridCol w="1134725"/>
                <a:gridCol w="1085925"/>
                <a:gridCol w="1231850"/>
                <a:gridCol w="1379300"/>
              </a:tblGrid>
              <a:tr h="5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Class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Precision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Recall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F1-Score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Support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980000"/>
                    </a:solidFill>
                  </a:tcPr>
                </a:tc>
              </a:tr>
              <a:tr h="492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 Motion (0)</a:t>
                      </a:r>
                      <a:endParaRPr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0.99</a:t>
                      </a:r>
                      <a:endParaRPr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1.00</a:t>
                      </a:r>
                      <a:endParaRPr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0.99</a:t>
                      </a:r>
                      <a:endParaRPr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72,462</a:t>
                      </a:r>
                      <a:endParaRPr sz="1500"/>
                    </a:p>
                  </a:txBody>
                  <a:tcPr marT="91425" marB="91425" marR="91425" marL="91425" anchor="ctr"/>
                </a:tc>
              </a:tr>
              <a:tr h="492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 Stop (1)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0.99</a:t>
                      </a:r>
                      <a:endParaRPr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0.82</a:t>
                      </a:r>
                      <a:endParaRPr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0.90</a:t>
                      </a:r>
                      <a:endParaRPr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5,232</a:t>
                      </a:r>
                      <a:endParaRPr sz="1500"/>
                    </a:p>
                  </a:txBody>
                  <a:tcPr marT="91425" marB="91425" marR="91425" marL="91425" anchor="ctr"/>
                </a:tc>
              </a:tr>
              <a:tr h="492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Weighted Avg</a:t>
                      </a:r>
                      <a:endParaRPr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0.99</a:t>
                      </a:r>
                      <a:endParaRPr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0.99</a:t>
                      </a:r>
                      <a:endParaRPr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0.99</a:t>
                      </a:r>
                      <a:endParaRPr sz="15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77,694</a:t>
                      </a:r>
                      <a:endParaRPr sz="15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e76a4f719_0_47"/>
          <p:cNvSpPr txBox="1"/>
          <p:nvPr>
            <p:ph type="title"/>
          </p:nvPr>
        </p:nvSpPr>
        <p:spPr>
          <a:xfrm>
            <a:off x="831850" y="439400"/>
            <a:ext cx="10515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43426"/>
              </a:buClr>
              <a:buSzPts val="3960"/>
              <a:buFont typeface="Montserrat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Future Scope</a:t>
            </a:r>
            <a:endParaRPr/>
          </a:p>
        </p:txBody>
      </p:sp>
      <p:sp>
        <p:nvSpPr>
          <p:cNvPr id="170" name="Google Shape;170;g3de76a4f719_0_4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g3de76a4f719_0_4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14-03-2026</a:t>
            </a:r>
            <a:endParaRPr/>
          </a:p>
        </p:txBody>
      </p:sp>
      <p:sp>
        <p:nvSpPr>
          <p:cNvPr id="172" name="Google Shape;172;g3de76a4f719_0_47"/>
          <p:cNvSpPr/>
          <p:nvPr/>
        </p:nvSpPr>
        <p:spPr>
          <a:xfrm>
            <a:off x="901450" y="1958363"/>
            <a:ext cx="4826100" cy="16791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Balancing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Address class imbalance (72K vs 5K) using SMOTE or class-weighted training to improve recall for hard stop events.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de76a4f719_0_47"/>
          <p:cNvSpPr/>
          <p:nvPr/>
        </p:nvSpPr>
        <p:spPr>
          <a:xfrm>
            <a:off x="6506600" y="1958363"/>
            <a:ext cx="4826100" cy="16791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Adaptive</a:t>
            </a: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Threshold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Replace fixed 90 kmph velocity threshold with data-driven or dynamic labeling to reduce dependency on arbitrary cutoffs.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e76a4f719_0_47"/>
          <p:cNvSpPr/>
          <p:nvPr/>
        </p:nvSpPr>
        <p:spPr>
          <a:xfrm>
            <a:off x="859300" y="3929900"/>
            <a:ext cx="4826100" cy="16791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 Ensemble Method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Experiment with Gradient Boosting (XGBoost, LightGBM) or stacked ensembles for potential further accuracy gains.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de76a4f719_0_47"/>
          <p:cNvSpPr/>
          <p:nvPr/>
        </p:nvSpPr>
        <p:spPr>
          <a:xfrm>
            <a:off x="6464450" y="3929900"/>
            <a:ext cx="4826100" cy="1679100"/>
          </a:xfrm>
          <a:prstGeom prst="roundRect">
            <a:avLst>
              <a:gd fmla="val 16667" name="adj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Real-time Integration with YOLO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Connect the classifier to live UAV video streams via YOLO object detection for real-time hard stop detection in traffic.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e76a4f719_0_7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g3de76a4f719_0_74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14-03-2026</a:t>
            </a:r>
            <a:endParaRPr/>
          </a:p>
        </p:txBody>
      </p:sp>
      <p:sp>
        <p:nvSpPr>
          <p:cNvPr id="182" name="Google Shape;182;g3de76a4f719_0_74"/>
          <p:cNvSpPr txBox="1"/>
          <p:nvPr>
            <p:ph type="title"/>
          </p:nvPr>
        </p:nvSpPr>
        <p:spPr>
          <a:xfrm>
            <a:off x="831850" y="439400"/>
            <a:ext cx="10515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43426"/>
              </a:buClr>
              <a:buSzPts val="3960"/>
              <a:buFont typeface="Montserrat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/>
          </a:p>
        </p:txBody>
      </p:sp>
      <p:sp>
        <p:nvSpPr>
          <p:cNvPr id="183" name="Google Shape;183;g3de76a4f719_0_74"/>
          <p:cNvSpPr txBox="1"/>
          <p:nvPr/>
        </p:nvSpPr>
        <p:spPr>
          <a:xfrm>
            <a:off x="976175" y="1927650"/>
            <a:ext cx="100461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Chouiekh, C., Yahyaouy, A., Sabri, M. A., &amp; Karmouni, H. (2025).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optimized hybrid approach for trajectory prediction and vehicle classification at intersections using Dijkstra and random forest enhanced by a genetic algorithm. Franklin Open, 100445.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2019-05-10T05:56:50Z</dcterms:created>
  <dc:creator>Microsoft Office User</dc:creator>
</cp:coreProperties>
</file>