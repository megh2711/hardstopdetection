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6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34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32" y="72"/>
      </p:cViewPr>
      <p:guideLst/>
    </p:cSldViewPr>
  </p:slideViewPr>
  <p:notesTextViewPr>
    <p:cViewPr>
      <p:scale>
        <a:sx n="153" d="100"/>
        <a:sy n="153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396947-031B-4BB4-A174-725C5A184DD2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81E788-01F6-4B56-95D4-52ED7A7C6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61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5120B-E0C5-C900-0140-4354EDF88D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6E96F4-157A-D4F9-6009-21C5CBC4B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48FB1-196C-D09A-20CE-2F05E07F7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092B5-8F02-4BCE-B3A2-CD6CCCB7E8AA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AC877-777D-79FF-DFAF-C4628A0FA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AA90A-FB3A-FCF0-7772-88FA80620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1B5B-E67F-4724-A43C-876866615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37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B86DD-0763-AB1D-7FA6-31FAB2050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94AAD-56DD-B32B-4A65-BCDE89821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059A3-CC29-09DD-1BDE-01EF40E12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A99AF-B2F5-4D14-94A2-9675C9952352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55D1F-D1E8-021B-818B-0977C55FD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A167E-1550-33C2-1936-7574329A3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1B5B-E67F-4724-A43C-876866615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742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E3245-E5AF-A4DC-B432-4AF106C7A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82247-B337-1C22-4FF9-3EA958300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343D5-B97E-4102-D477-B88CF31FC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68184-BC7A-41DF-83BF-F9E21D81D788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676A5-453E-D599-B966-F9EAE0847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F8C2B-E109-DE31-1B3C-09DC4706F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1B5B-E67F-4724-A43C-876866615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76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365AB-49E3-B967-A9D9-387082D97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DB16E-6227-41B1-05BA-A676B64111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CDF84-F55A-2B3F-1B87-0D5DBFAB2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D551C9-D171-5FFC-849F-B6A010B78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0D71-3381-44EF-B178-5744BA4E48B3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9A5601-0BCE-670F-23BC-C9811615E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BA6EF7-19BF-5DB3-846E-5F6DD13B3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1B5B-E67F-4724-A43C-876866615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305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017B4-1599-A2C0-E6F7-A1183D60D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B60AD-40ED-85B2-0B2E-E1D5B14DC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53E690-692C-F170-F28D-E5E2ED2FF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362434-FA4E-2999-C0AA-9A043239FB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47F1AA-06A5-66A6-C9FE-11A50CC06E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8EE996-DB7A-1839-E614-A97A16938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2B37E-76C1-42CC-87A1-C81E1872AA48}" type="datetime1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A37472-6C42-962B-680A-1DD66F146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BCDC53-E6E2-99F7-65A7-023384881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1B5B-E67F-4724-A43C-876866615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699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44D94-8DC3-37B5-1248-7AA238931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B1EF06-687E-D913-A15B-D02795FCF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1609-2663-48E9-82DD-30BCDA9EE8C3}" type="datetime1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1C87E-ECEE-C15D-1C99-6B63E1639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555D0B-1172-B6F1-5379-CBAFA5719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1B5B-E67F-4724-A43C-876866615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285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1A2C30-163A-0517-A858-0337D0DBC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E4AA0-7F9C-4C2E-AB86-030628F3B78B}" type="datetime1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9D4AD3-3383-4520-30D7-A77D47519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3C61E-A66A-2D0F-FBBC-E1DBE1F96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1B5B-E67F-4724-A43C-876866615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69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DC5CF-35C9-7238-79DA-03B5116AF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E55CE-92A0-D3FB-B9D4-34E03ACB7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2C11F1-2AF5-EB4B-8860-5C19794F7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06A8D-8055-008A-68AE-CE9473C11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2944-B148-4F22-91C0-6FF9DA9D6065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3EAA0-CFA5-4ECB-87FE-C714E2FBF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67326-2E2A-3F2B-7648-E6B13F1F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1B5B-E67F-4724-A43C-876866615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54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C0DF6-2D0F-FA3A-E0D0-FD3EC81F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657B75-C13E-C381-C61F-CDF1996801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43445B-577D-1FF4-40E5-44DC6F7D6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EE9CB4-5314-E963-F6DA-603F7C87F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7B59C-2982-4EEB-A96C-42C52BF6DA33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EAE445-C108-E282-F878-30BFE736C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7FA970-69B0-5047-BA93-8FE1161BF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1B5B-E67F-4724-A43C-876866615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03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E20DF-22F2-B926-881D-8FC18924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34B85D-5CB5-EDB4-3545-1F1C051E3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7ADBA-0AA1-C543-2E0E-E4F322527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09BD6-B45A-4CB4-A497-28C5637C5442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4E7B7-E028-553F-C876-C1333688E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7B5FB-8D6F-1208-C17B-189EA2D2C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1B5B-E67F-4724-A43C-876866615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71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CBFC77-F534-6340-6B0B-C488A3D834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A7C721-95FF-037E-1D97-58222812B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970C4-0953-F321-8B99-D494F94C8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3D208-8ADC-479C-ACD0-0A62AAC08064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E1206-8B5E-CCDE-E821-76BAA0AB0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D9919-5F3F-7B19-3733-54320DC6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1B5B-E67F-4724-A43C-876866615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008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83F94F-2D44-ED1B-9A30-228A516FD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D9EAA-277E-1CC3-C7E5-D612C6793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18D02-A5AB-EF22-DB0F-CB98CE9EDC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7818E-CE1B-4AE5-B5DB-4BE4A5FA81EE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39FB0-1E46-D2E8-C55D-644D1E95C8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D0D89-C64F-3CD0-F3B7-FDFDAEB39F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71B5B-E67F-4724-A43C-876866615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6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3F6F31-9A71-48BD-257D-4131C577F7C8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B434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ontserrat" pitchFamily="2" charset="0"/>
              </a:rPr>
              <a:t>School of Engineering and Applied Science, Ahmedabad University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B66D1B8-4D2B-3DC3-294B-0ECD46B232DE}"/>
              </a:ext>
            </a:extLst>
          </p:cNvPr>
          <p:cNvSpPr txBox="1">
            <a:spLocks/>
          </p:cNvSpPr>
          <p:nvPr/>
        </p:nvSpPr>
        <p:spPr>
          <a:xfrm>
            <a:off x="1524000" y="6493199"/>
            <a:ext cx="9144000" cy="36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CE9233D-B7B5-CDF4-3322-1F22D130C92D}"/>
              </a:ext>
            </a:extLst>
          </p:cNvPr>
          <p:cNvSpPr txBox="1">
            <a:spLocks/>
          </p:cNvSpPr>
          <p:nvPr/>
        </p:nvSpPr>
        <p:spPr>
          <a:xfrm>
            <a:off x="1524000" y="2347704"/>
            <a:ext cx="9144000" cy="8211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B43426"/>
                </a:solidFill>
                <a:latin typeface="Montserrat" pitchFamily="2" charset="0"/>
              </a:rPr>
              <a:t>Hard Stop Detection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B6D855-BA83-ACAB-28C8-16E4EEBBA3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7945" y="152799"/>
            <a:ext cx="3636110" cy="1587957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8071DE86-0762-F672-E342-D8BA25DD60E6}"/>
              </a:ext>
            </a:extLst>
          </p:cNvPr>
          <p:cNvSpPr txBox="1">
            <a:spLocks/>
          </p:cNvSpPr>
          <p:nvPr/>
        </p:nvSpPr>
        <p:spPr>
          <a:xfrm>
            <a:off x="1524000" y="3828482"/>
            <a:ext cx="9144000" cy="20742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B43426"/>
                </a:solidFill>
                <a:latin typeface="Montserrat" pitchFamily="2" charset="0"/>
              </a:rPr>
              <a:t>Presentation by</a:t>
            </a:r>
            <a:endParaRPr lang="en-US" sz="2000" b="1" dirty="0">
              <a:solidFill>
                <a:srgbClr val="B43426"/>
              </a:solidFill>
              <a:latin typeface="Montserrat" pitchFamily="2" charset="0"/>
            </a:endParaRPr>
          </a:p>
          <a:p>
            <a:r>
              <a:rPr lang="en-US" sz="2000" b="1" dirty="0">
                <a:solidFill>
                  <a:srgbClr val="B43426"/>
                </a:solidFill>
                <a:latin typeface="Montserrat" pitchFamily="2" charset="0"/>
              </a:rPr>
              <a:t>Megh Patel [AU2544020]</a:t>
            </a:r>
          </a:p>
          <a:p>
            <a:r>
              <a:rPr lang="en-US" sz="2000" b="1" dirty="0">
                <a:solidFill>
                  <a:srgbClr val="B43426"/>
                </a:solidFill>
                <a:latin typeface="Montserrat" pitchFamily="2" charset="0"/>
              </a:rPr>
              <a:t>Devanshi Pathak [AU2544014]</a:t>
            </a:r>
          </a:p>
          <a:p>
            <a:r>
              <a:rPr lang="en-US" sz="2000" b="1" dirty="0">
                <a:solidFill>
                  <a:srgbClr val="B43426"/>
                </a:solidFill>
                <a:latin typeface="Montserrat" pitchFamily="2" charset="0"/>
              </a:rPr>
              <a:t>Dharmi Vekariya [AU2544029]</a:t>
            </a:r>
            <a:endParaRPr lang="en-US" sz="2000" dirty="0">
              <a:solidFill>
                <a:srgbClr val="B43426"/>
              </a:solidFill>
              <a:latin typeface="Montserrat" pitchFamily="2" charset="0"/>
            </a:endParaRPr>
          </a:p>
          <a:p>
            <a:r>
              <a:rPr lang="en-US" sz="2000" b="1" dirty="0">
                <a:solidFill>
                  <a:srgbClr val="B43426"/>
                </a:solidFill>
                <a:latin typeface="Montserrat" pitchFamily="2" charset="0"/>
              </a:rPr>
              <a:t>Konark Karia [AU2544011]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21370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86907-A3CA-6B56-2DFE-39A432D21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37" y="88721"/>
            <a:ext cx="9225116" cy="1195164"/>
          </a:xfrm>
        </p:spPr>
        <p:txBody>
          <a:bodyPr/>
          <a:lstStyle/>
          <a:p>
            <a:r>
              <a:rPr lang="en-US" b="1" dirty="0">
                <a:solidFill>
                  <a:srgbClr val="B43426"/>
                </a:solidFill>
                <a:latin typeface="Montserrat" pitchFamily="2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8BEDE-6BE0-48B2-4074-7D7BCB98B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437" y="1283885"/>
            <a:ext cx="11513126" cy="4662795"/>
          </a:xfrm>
        </p:spPr>
        <p:txBody>
          <a:bodyPr>
            <a:normAutofit/>
          </a:bodyPr>
          <a:lstStyle/>
          <a:p>
            <a:pPr>
              <a:spcBef>
                <a:spcPts val="2500"/>
              </a:spcBef>
            </a:pPr>
            <a:r>
              <a:rPr lang="en-US" dirty="0"/>
              <a:t>Diabetes is a </a:t>
            </a:r>
            <a:r>
              <a:rPr lang="en-US" b="1" dirty="0"/>
              <a:t>chronic and rapidly increasing disease</a:t>
            </a:r>
            <a:r>
              <a:rPr lang="en-US" dirty="0"/>
              <a:t> worldwide.</a:t>
            </a:r>
          </a:p>
          <a:p>
            <a:pPr lvl="1">
              <a:spcBef>
                <a:spcPts val="2500"/>
              </a:spcBef>
            </a:pPr>
            <a:r>
              <a:rPr lang="en-US" dirty="0"/>
              <a:t>Many patients are diagnosed </a:t>
            </a:r>
            <a:r>
              <a:rPr lang="en-US" b="1" dirty="0"/>
              <a:t>too late</a:t>
            </a:r>
          </a:p>
          <a:p>
            <a:pPr lvl="1">
              <a:spcBef>
                <a:spcPts val="2500"/>
              </a:spcBef>
            </a:pPr>
            <a:r>
              <a:rPr lang="en-US" dirty="0"/>
              <a:t>Early symptoms are often </a:t>
            </a:r>
            <a:r>
              <a:rPr lang="en-US" b="1" dirty="0"/>
              <a:t>ignored or unnoticed</a:t>
            </a:r>
          </a:p>
          <a:p>
            <a:pPr lvl="1">
              <a:spcBef>
                <a:spcPts val="2500"/>
              </a:spcBef>
            </a:pPr>
            <a:r>
              <a:rPr lang="en-US" dirty="0"/>
              <a:t>Hospitals have </a:t>
            </a:r>
            <a:r>
              <a:rPr lang="en-US" b="1" dirty="0"/>
              <a:t>large volumes of patient data</a:t>
            </a:r>
            <a:r>
              <a:rPr lang="en-US" dirty="0"/>
              <a:t> but limited predictive use</a:t>
            </a:r>
          </a:p>
          <a:p>
            <a:pPr>
              <a:spcBef>
                <a:spcPts val="2500"/>
              </a:spcBef>
            </a:pPr>
            <a:r>
              <a:rPr lang="en-US" b="1" dirty="0"/>
              <a:t>Our Goal</a:t>
            </a:r>
          </a:p>
          <a:p>
            <a:pPr lvl="1">
              <a:spcBef>
                <a:spcPts val="2500"/>
              </a:spcBef>
            </a:pPr>
            <a:r>
              <a:rPr lang="en-US" dirty="0"/>
              <a:t>To </a:t>
            </a:r>
            <a:r>
              <a:rPr lang="en-US" b="1" dirty="0"/>
              <a:t>predict the risk of diabetes</a:t>
            </a:r>
            <a:r>
              <a:rPr lang="en-US" dirty="0"/>
              <a:t> using patient health indicators and analyze key healthcare trends.</a:t>
            </a:r>
            <a:endParaRPr 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5D3902-47A3-0DFC-3E5A-330170CCAD77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B434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bg1"/>
                </a:solidFill>
                <a:latin typeface="Montserrat" pitchFamily="2" charset="0"/>
              </a:rPr>
              <a:t>Megh Patel | Devanshi Pathak | Dharmi Vekariya | Konark Karia						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20C813-4BAC-B2F3-31DC-7BF3887E1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516" y="6440129"/>
            <a:ext cx="2743200" cy="365125"/>
          </a:xfrm>
        </p:spPr>
        <p:txBody>
          <a:bodyPr/>
          <a:lstStyle/>
          <a:p>
            <a:fld id="{9A671B5B-E67F-4724-A43C-876866615C7E}" type="slidenum">
              <a:rPr lang="en-US" sz="1800" smtClean="0">
                <a:solidFill>
                  <a:schemeClr val="bg1"/>
                </a:solidFill>
                <a:latin typeface="Montserrat" pitchFamily="2" charset="0"/>
              </a:rPr>
              <a:t>2</a:t>
            </a:fld>
            <a:endParaRPr lang="en-US" sz="1800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FA7835-9D40-DB13-C24D-056BB8973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9193" y="0"/>
            <a:ext cx="2939845" cy="128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970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E1575-1A46-6654-56D5-51AC0D5C2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C72F85-6E44-3C24-2B34-8BAA5C337C21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B434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bg1"/>
                </a:solidFill>
                <a:latin typeface="Montserrat" pitchFamily="2" charset="0"/>
              </a:rPr>
              <a:t>Megh Patel | Devanshi Pathak | Dharmi Vekariya | Konark Karia						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AA055A-6F63-0A48-9192-F2DB7F863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516" y="6440129"/>
            <a:ext cx="2743200" cy="365125"/>
          </a:xfrm>
        </p:spPr>
        <p:txBody>
          <a:bodyPr/>
          <a:lstStyle/>
          <a:p>
            <a:fld id="{9A671B5B-E67F-4724-A43C-876866615C7E}" type="slidenum">
              <a:rPr lang="en-US" sz="1800" smtClean="0">
                <a:solidFill>
                  <a:schemeClr val="bg1"/>
                </a:solidFill>
                <a:latin typeface="Montserrat" pitchFamily="2" charset="0"/>
              </a:rPr>
              <a:t>3</a:t>
            </a:fld>
            <a:endParaRPr lang="en-US" sz="1800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769897-5022-DDAF-9038-A5BD56C61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076" y="382216"/>
            <a:ext cx="2939845" cy="12838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89BF832-9021-0B60-BB3F-088CD8088470}"/>
              </a:ext>
            </a:extLst>
          </p:cNvPr>
          <p:cNvSpPr txBox="1"/>
          <p:nvPr/>
        </p:nvSpPr>
        <p:spPr>
          <a:xfrm>
            <a:off x="3324247" y="2875002"/>
            <a:ext cx="554350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>
                <a:solidFill>
                  <a:srgbClr val="B43426"/>
                </a:solidFill>
                <a:latin typeface="Montserrat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5681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125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Montserrat</vt:lpstr>
      <vt:lpstr>Office Theme</vt:lpstr>
      <vt:lpstr>PowerPoint Presentation</vt:lpstr>
      <vt:lpstr>Introduction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Megh Patel</dc:creator>
  <cp:lastModifiedBy>Megh Patel</cp:lastModifiedBy>
  <cp:revision>57</cp:revision>
  <dcterms:created xsi:type="dcterms:W3CDTF">2026-01-19T08:03:29Z</dcterms:created>
  <dcterms:modified xsi:type="dcterms:W3CDTF">2026-03-16T18:37:31Z</dcterms:modified>
</cp:coreProperties>
</file>